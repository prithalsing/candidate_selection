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227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rithalsingmega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4;p13" title="background redrob.png">
            <a:extLst>
              <a:ext uri="{FF2B5EF4-FFF2-40B4-BE49-F238E27FC236}">
                <a16:creationId xmlns:a16="http://schemas.microsoft.com/office/drawing/2014/main" id="{07D5F271-270F-E9CB-3DCC-182F41CC09E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BA71BF3B-A512-4650-0504-DED4C34CF2F4}"/>
              </a:ext>
            </a:extLst>
          </p:cNvPr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IN" dirty="0"/>
              <a:t>TEAMP2R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7" name="Google Shape;56;p13">
            <a:extLst>
              <a:ext uri="{FF2B5EF4-FFF2-40B4-BE49-F238E27FC236}">
                <a16:creationId xmlns:a16="http://schemas.microsoft.com/office/drawing/2014/main" id="{DBC60A71-ACA6-246E-C114-1D6BC852649E}"/>
              </a:ext>
            </a:extLst>
          </p:cNvPr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lang="en-US"/>
              <a:t> Candidate </a:t>
            </a:r>
            <a:r>
              <a:rPr lang="en-US" dirty="0"/>
              <a:t>Ranking for Senior AI Engineer Role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" name="Google Shape;57;p13">
            <a:extLst>
              <a:ext uri="{FF2B5EF4-FFF2-40B4-BE49-F238E27FC236}">
                <a16:creationId xmlns:a16="http://schemas.microsoft.com/office/drawing/2014/main" id="{F48B754D-4417-0E73-2BCA-AFCFFE53E8F6}"/>
              </a:ext>
            </a:extLst>
          </p:cNvPr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:Prithalsing More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3B9E5-35A2-CFCB-88ED-424A1B04BDB5}"/>
              </a:ext>
            </a:extLst>
          </p:cNvPr>
          <p:cNvSpPr txBox="1"/>
          <p:nvPr/>
        </p:nvSpPr>
        <p:spPr>
          <a:xfrm>
            <a:off x="267546" y="4242290"/>
            <a:ext cx="4622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E2E1DA"/>
                </a:solidFill>
                <a:effectLst/>
                <a:latin typeface="Anthropic Sans"/>
              </a:rPr>
              <a:t> </a:t>
            </a:r>
            <a:r>
              <a:rPr lang="en-IN" b="0" i="0" dirty="0">
                <a:effectLst/>
                <a:latin typeface="Anthropic Sans"/>
              </a:rPr>
              <a:t>Email : </a:t>
            </a:r>
            <a:r>
              <a:rPr lang="en-IN" b="0" i="0" dirty="0">
                <a:effectLst/>
                <a:latin typeface="Anthropic Sans"/>
                <a:hlinkClick r:id="rId3"/>
              </a:rPr>
              <a:t>Prithalsingmega@gmail.com</a:t>
            </a:r>
            <a:endParaRPr lang="en-IN" b="0" i="0" dirty="0">
              <a:effectLst/>
              <a:latin typeface="Anthropic Sans"/>
            </a:endParaRPr>
          </a:p>
          <a:p>
            <a:pPr algn="l">
              <a:buNone/>
            </a:pPr>
            <a:r>
              <a:rPr lang="en-IN" dirty="0">
                <a:latin typeface="Anthropic Sans"/>
              </a:rPr>
              <a:t> Phone No. : 91 9420602163</a:t>
            </a:r>
          </a:p>
        </p:txBody>
      </p:sp>
    </p:spTree>
    <p:extLst>
      <p:ext uri="{BB962C8B-B14F-4D97-AF65-F5344CB8AC3E}">
        <p14:creationId xmlns:p14="http://schemas.microsoft.com/office/powerpoint/2010/main" val="10413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62;p14" title="overlay redrob.png">
            <a:extLst>
              <a:ext uri="{FF2B5EF4-FFF2-40B4-BE49-F238E27FC236}">
                <a16:creationId xmlns:a16="http://schemas.microsoft.com/office/drawing/2014/main" id="{29763ECA-924B-3DFC-CBD5-D65209B89B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882870" y="-435129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25670" y="570711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5670" y="570711"/>
            <a:ext cx="54864" cy="18288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50" y="707871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4310" y="662151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HARD EXCLUSION LAYER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4270" y="1073631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 detection (53 impossible profiles)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4-check validation: dates, YoE, skills, assessments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clean candidate pool before scoring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31910" y="570711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31910" y="570711"/>
            <a:ext cx="54864" cy="182880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790" y="707871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80550" y="662151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RETRIEVAL &amp; FILTERING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60510" y="1073631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lexical retrieval (length-normalized)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semantic retrieval (concept matching)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Union: ~3,700 candidates → filter TIER0 → ~1,000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25670" y="2628111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5670" y="2628111"/>
            <a:ext cx="54864" cy="18288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50" y="2765271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4310" y="2719551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QUALITY SCORING (7 Components)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54270" y="3131031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depth: 25%  |  BM25 match: 20%  |  Career text: 18%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17%  |  Progression: 10%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YoE: 6%  |  Location: 4%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631910" y="2628111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31910" y="2628111"/>
            <a:ext cx="54864" cy="1828800"/>
          </a:xfrm>
          <a:prstGeom prst="rect">
            <a:avLst/>
          </a:prstGeom>
          <a:solidFill>
            <a:srgbClr val="FB8C0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790" y="2765271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80550" y="2719551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RANKING GATES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860510" y="3131031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gate: 1.0x (Senior) → 0.5x (Mid) → 0.05x (TIER0)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Engagement: 0.50x → 1.00x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= Title_Gate × Quality_Blend × Engagement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25670" y="4576986"/>
            <a:ext cx="82296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19"/>
          <p:cNvSpPr/>
          <p:nvPr/>
        </p:nvSpPr>
        <p:spPr>
          <a:xfrm>
            <a:off x="488730" y="458197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Top 100 ranked candidates — 0 honeypots, 0 stuffers, 0 TIER0 titles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62;p14" title="overlay redrob.png">
            <a:extLst>
              <a:ext uri="{FF2B5EF4-FFF2-40B4-BE49-F238E27FC236}">
                <a16:creationId xmlns:a16="http://schemas.microsoft.com/office/drawing/2014/main" id="{ECE2BAB5-F709-CAE3-F8EA-8B559C267A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914400" y="-19549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65760" y="673188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810348"/>
            <a:ext cx="3931920" cy="4114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8103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314" y="1352682"/>
            <a:ext cx="3112113" cy="25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Keyword-only matching (misses conceptual fits)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honeypot detection (scores impossible profiles)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stuffing vulnerability (long resumes win)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scoring (unexplainable rankings)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penalties (stuffers can still rank high)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810348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10348"/>
            <a:ext cx="402336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8103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0515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retrieval (BM25 + TF-IDF) for broad coverage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 4-check system removes 53 impossible profiles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length-normalization prevents stuffing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rankings with per-candidate reasoning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 title gate (TIER0 = 0.05x, mathematically blocked)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4565692"/>
            <a:ext cx="841248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Identical results across 3 independent methods — true candidate-JD alignment, not just keyword matching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2;p14" title="overlay redrob.png">
            <a:extLst>
              <a:ext uri="{FF2B5EF4-FFF2-40B4-BE49-F238E27FC236}">
                <a16:creationId xmlns:a16="http://schemas.microsoft.com/office/drawing/2014/main" id="{D2548F29-2DB9-5319-A314-10636BCA3F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65760" y="766205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85764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JD REQUIREMENTS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6912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1497725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AI/ML: Deep learning, NLP, LLMs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PyTorch, TensorFlow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DBs, embeddings, RAG systems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0080" y="213780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2366405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yrs AI/ML engineering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yrs production ML systems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yrs LLMs / transformers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300648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311290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architecture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mindset &amp; collaboration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" y="3680619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Location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3836539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B.Tech/BS CS (MS preferred)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India-based (metro preferred)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54880" y="766205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37760" y="85764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SIGNALS WE EVALUATE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13148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Depth (25%)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937760" y="15160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9" name="Shape 16"/>
          <p:cNvSpPr/>
          <p:nvPr/>
        </p:nvSpPr>
        <p:spPr>
          <a:xfrm>
            <a:off x="4937760" y="1516013"/>
            <a:ext cx="2286000" cy="1097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7720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Lexical Match (20%)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937760" y="19732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2" name="Shape 19"/>
          <p:cNvSpPr/>
          <p:nvPr/>
        </p:nvSpPr>
        <p:spPr>
          <a:xfrm>
            <a:off x="4937760" y="1973213"/>
            <a:ext cx="1828800" cy="10972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22292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Text Relevance (18%)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937760" y="24304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5" name="Shape 22"/>
          <p:cNvSpPr/>
          <p:nvPr/>
        </p:nvSpPr>
        <p:spPr>
          <a:xfrm>
            <a:off x="4937760" y="2430413"/>
            <a:ext cx="164592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3"/>
          <p:cNvSpPr/>
          <p:nvPr/>
        </p:nvSpPr>
        <p:spPr>
          <a:xfrm>
            <a:off x="4937760" y="26864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Scores (17%)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937760" y="28876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8" name="Shape 25"/>
          <p:cNvSpPr/>
          <p:nvPr/>
        </p:nvSpPr>
        <p:spPr>
          <a:xfrm>
            <a:off x="4937760" y="2887613"/>
            <a:ext cx="1554480" cy="1097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1436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Progression (10%)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937760" y="33448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1" name="Shape 28"/>
          <p:cNvSpPr/>
          <p:nvPr/>
        </p:nvSpPr>
        <p:spPr>
          <a:xfrm>
            <a:off x="4937760" y="3344813"/>
            <a:ext cx="914400" cy="109728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2" name="Text 29"/>
          <p:cNvSpPr/>
          <p:nvPr/>
        </p:nvSpPr>
        <p:spPr>
          <a:xfrm>
            <a:off x="4937760" y="36008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 (6%)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37760" y="38020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4" name="Shape 31"/>
          <p:cNvSpPr/>
          <p:nvPr/>
        </p:nvSpPr>
        <p:spPr>
          <a:xfrm>
            <a:off x="4937760" y="3802013"/>
            <a:ext cx="548640" cy="10972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4058045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Fit (4%)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937760" y="4259213"/>
            <a:ext cx="2286000" cy="1097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7" name="Shape 34"/>
          <p:cNvSpPr/>
          <p:nvPr/>
        </p:nvSpPr>
        <p:spPr>
          <a:xfrm>
            <a:off x="4937760" y="4259213"/>
            <a:ext cx="365760" cy="109728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38" name="Text 35"/>
          <p:cNvSpPr/>
          <p:nvPr/>
        </p:nvSpPr>
        <p:spPr>
          <a:xfrm>
            <a:off x="365760" y="4682359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signal verified against explicit profile data — no assumptions, no inferences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62;p14" title="overlay redrob.png">
            <a:extLst>
              <a:ext uri="{FF2B5EF4-FFF2-40B4-BE49-F238E27FC236}">
                <a16:creationId xmlns:a16="http://schemas.microsoft.com/office/drawing/2014/main" id="{C7F7AA92-171B-1CD6-81D0-4E41F9A5B9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914400" y="-170267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91540" y="835573"/>
            <a:ext cx="502920" cy="50292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" y="8355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60220" y="881293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5780" y="14299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5780" y="18871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4-check validation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excluded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263140" y="835573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2263140" y="8355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31820" y="881293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97380" y="14299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97380" y="18871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TF-IDF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~3,700 candidates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634740" y="835573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6" name="Text 13"/>
          <p:cNvSpPr/>
          <p:nvPr/>
        </p:nvSpPr>
        <p:spPr>
          <a:xfrm>
            <a:off x="3634740" y="8355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03420" y="881293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68980" y="14299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68980" y="18871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TIER0 removal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~1,045 remain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006340" y="835573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5006340" y="8355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875020" y="881293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40580" y="14299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40580" y="18871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7-component blend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formula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377940" y="835573"/>
            <a:ext cx="502920" cy="502920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26" name="Text 23"/>
          <p:cNvSpPr/>
          <p:nvPr/>
        </p:nvSpPr>
        <p:spPr>
          <a:xfrm>
            <a:off x="6377940" y="8355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46620" y="881293"/>
            <a:ext cx="137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12180" y="14299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012180" y="18871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 / 0.5x / 0.05x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7749540" y="835573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31" name="Text 28"/>
          <p:cNvSpPr/>
          <p:nvPr/>
        </p:nvSpPr>
        <p:spPr>
          <a:xfrm>
            <a:off x="7749540" y="8355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383780" y="14299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383780" y="1887133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&amp; output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100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65760" y="2618653"/>
            <a:ext cx="841248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261865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title_gate × quality_blend × engagement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65760" y="284725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DE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quality_blend = 0.25×skill + 0.20×bm25 + 0.18×career + 0.17×assess + 0.10×progress + 0.06×yoe + 0.04×location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65760" y="3304453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48640" y="335017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MULTIPLICATIVE GATE?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3670213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Additive: TIER0 with quality 1.0 → 1.0 - 0.10 = 0.90 (still high!)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Multiplicative: TIER0 with quality 1.0 → 1.0 × 0.05 = 0.05 (blocked!)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754880" y="3304453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937760" y="335017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937760" y="3670213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candidates processed in ~88 seconds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(no GPU required)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&amp; reproducible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top-100 across all 4 methods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80448C-D9DC-5D6F-A772-B32F208B49D7}"/>
              </a:ext>
            </a:extLst>
          </p:cNvPr>
          <p:cNvSpPr txBox="1"/>
          <p:nvPr/>
        </p:nvSpPr>
        <p:spPr>
          <a:xfrm>
            <a:off x="20495" y="474674"/>
            <a:ext cx="4622450" cy="38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2;p14" title="overlay redrob.png">
            <a:extLst>
              <a:ext uri="{FF2B5EF4-FFF2-40B4-BE49-F238E27FC236}">
                <a16:creationId xmlns:a16="http://schemas.microsoft.com/office/drawing/2014/main" id="{D0F55861-EC66-D4A0-F399-2810B5F4A9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63063" y="378057"/>
            <a:ext cx="500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DATA VALIDATION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EXPLANATION EXAMPLE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Candidate_0011687 — Rank #1, Score: 0.8883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Matching (95%)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critical AI/ML skills matched, all 4+ yrs, assessments 80+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40080" y="2176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(93%)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2359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yrs AI/ML, progression: ML Eng → Senior ML Eng → AI Lead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0080" y="26151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Description (88%)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pipelines, vector DB optimization, LLM fine-tuning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3054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(85%)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40080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85, DL 82, System Design 87 — all Expert claims verified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0080" y="3493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Seniority (100%)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AI Engineer → full 1.0x gate applied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(95%)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40080" y="4114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updated 2 days ago, immediate availability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54880" y="100584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PREVENTION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37760" y="146304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Data Validation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use skills from profile.skills array — never infer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Verification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duration_months &gt; 0 — never assume experience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Grounding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+ score &lt; 40 = HONEYPOT flag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 Logic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title progression direction and timeline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Consistency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dates must be logically consistent (no future dates)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on Unknowns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→ explicit note, never filled with assumptions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Flagging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roles, mismatches → always highlighted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62;p14" title="overlay redrob.png">
            <a:extLst>
              <a:ext uri="{FF2B5EF4-FFF2-40B4-BE49-F238E27FC236}">
                <a16:creationId xmlns:a16="http://schemas.microsoft.com/office/drawing/2014/main" id="{3D8E3ACD-ADD4-6D62-7602-BFE99D56AC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914400" y="-25855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65760" y="74728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747286"/>
            <a:ext cx="54864" cy="6583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79300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HONEYPOT DETECTION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0" y="802150"/>
            <a:ext cx="1737360" cy="20116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80215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excluded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103989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4-check system: date logic, YoE math, skill anomaly, assessment impossibility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120448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0, hard excluded before ranking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" y="149709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497094"/>
            <a:ext cx="54864" cy="658368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154281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KEYWORD STUFFER GATING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0" y="1551958"/>
            <a:ext cx="1737360" cy="201168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5195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8,101 detected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48640" y="178970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TIER0 title + 4+ JD skills listed → title gate = 0.05x multiplier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8640" y="195429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case: 0.05 vs top-100 min: 0.48 (9.6x gap) → 0 in output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65760" y="224690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246902"/>
            <a:ext cx="54864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229262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MISSING DATA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0" y="2301766"/>
            <a:ext cx="173736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230176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scoring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8640" y="253951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assessment → 0.5 neutral. Empty job desc → title + duration only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8640" y="270410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fill missing data with assumptions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65760" y="299671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2996710"/>
            <a:ext cx="54864" cy="6583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304243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INCONSISTENCY FLAGGING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58000" y="3051574"/>
            <a:ext cx="1737360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0" y="305157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flags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" y="328931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gaps &gt;2yr, overlapping jobs, title-experience mismatch, skill-score mismatch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48640" y="345391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flags visible in ranking reasoning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5760" y="374651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65760" y="3746518"/>
            <a:ext cx="54864" cy="65836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" y="379223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5: CONFIDENCE SCORING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58000" y="3801382"/>
            <a:ext cx="1737360" cy="20116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0" y="380138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indicator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" y="403912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(0.90+): complete data, assessments, consistent timeline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8640" y="420371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(&lt;0.70): sparse profile, multiple flags — still ranked but flagged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65760" y="4464792"/>
            <a:ext cx="841248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8"/>
          <p:cNvSpPr/>
          <p:nvPr/>
        </p:nvSpPr>
        <p:spPr>
          <a:xfrm>
            <a:off x="365758" y="447188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100 = 100% legitimate candidates. Every anomaly explained in reasoning.</a:t>
            </a:r>
            <a:endParaRPr lang="en-US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48280F-08BB-6C99-110B-3FF95E848954}"/>
              </a:ext>
            </a:extLst>
          </p:cNvPr>
          <p:cNvSpPr txBox="1"/>
          <p:nvPr/>
        </p:nvSpPr>
        <p:spPr>
          <a:xfrm>
            <a:off x="3" y="431779"/>
            <a:ext cx="4622450" cy="38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62;p14" title="overlay redrob.png">
            <a:extLst>
              <a:ext uri="{FF2B5EF4-FFF2-40B4-BE49-F238E27FC236}">
                <a16:creationId xmlns:a16="http://schemas.microsoft.com/office/drawing/2014/main" id="{DB78D0C4-C407-EB3B-8BF0-D1AF55AA32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391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69368" y="411480"/>
            <a:ext cx="4086422" cy="47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791BDCD-07D2-BC4F-3CA6-EE1C268A90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95" b="27483"/>
          <a:stretch>
            <a:fillRect/>
          </a:stretch>
        </p:blipFill>
        <p:spPr>
          <a:xfrm>
            <a:off x="1109762" y="890752"/>
            <a:ext cx="6674830" cy="3963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62;p14" title="overlay redrob.png">
            <a:extLst>
              <a:ext uri="{FF2B5EF4-FFF2-40B4-BE49-F238E27FC236}">
                <a16:creationId xmlns:a16="http://schemas.microsoft.com/office/drawing/2014/main" id="{CEB4AE82-E4DE-777D-D314-83269A2F85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64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/>
          <p:cNvSpPr/>
          <p:nvPr/>
        </p:nvSpPr>
        <p:spPr>
          <a:xfrm>
            <a:off x="914400" y="-2774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25780" y="682648"/>
            <a:ext cx="1508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25780" y="682648"/>
            <a:ext cx="150876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4"/>
          <p:cNvSpPr/>
          <p:nvPr/>
        </p:nvSpPr>
        <p:spPr>
          <a:xfrm>
            <a:off x="525780" y="774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25780" y="12770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71700" y="682648"/>
            <a:ext cx="1508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71700" y="682648"/>
            <a:ext cx="1508760" cy="36576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1" name="Text 8"/>
          <p:cNvSpPr/>
          <p:nvPr/>
        </p:nvSpPr>
        <p:spPr>
          <a:xfrm>
            <a:off x="2171700" y="774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171700" y="12770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17620" y="682648"/>
            <a:ext cx="1508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17620" y="682648"/>
            <a:ext cx="150876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3817620" y="774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817620" y="12770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Top 100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63540" y="682648"/>
            <a:ext cx="1508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63540" y="682648"/>
            <a:ext cx="150876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6"/>
          <p:cNvSpPr/>
          <p:nvPr/>
        </p:nvSpPr>
        <p:spPr>
          <a:xfrm>
            <a:off x="5463540" y="774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463540" y="12770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109460" y="682648"/>
            <a:ext cx="1508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09460" y="682648"/>
            <a:ext cx="150876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3" name="Text 20"/>
          <p:cNvSpPr/>
          <p:nvPr/>
        </p:nvSpPr>
        <p:spPr>
          <a:xfrm>
            <a:off x="7109460" y="774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109460" y="12770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ducible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5760" y="1962808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8640" y="20085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FUNNEL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228284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candidates (input)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99,947 after honeypot exclusion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3,700 after dual retrieval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1,045 after TIER0 filter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100 ranked candidates (output)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1962808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937760" y="2008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DISTRIBUTION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22828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0.88-0.90: 4 candidates (exceptional)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0.85-0.88: 12 candidates (excellent)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0.80-0.85: 28 candidates (very good)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0.75-0.80: 32 candidates (good)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0.70-0.75: 18 candidates (acceptable)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0.65-0.70: 6 candidates (marginal)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b="1" i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cliff: Rank 100 → 0.48, Rank 101 → 0.42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72966" y="3579715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COMPARISON (All produce identical top-100)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422903"/>
              </p:ext>
            </p:extLst>
          </p:nvPr>
        </p:nvGraphicFramePr>
        <p:xfrm>
          <a:off x="472966" y="3808315"/>
          <a:ext cx="8046720" cy="10744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~73s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all 100K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audit trail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(BM25)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~44s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BM25 retrieve + score top 3K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speed (40% faster)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TF-IDF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~150s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retrieval, aggressive filter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confidence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Pre-trained embeddings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semantic quality (local)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A58C34DC-1AEB-04E4-5E48-20825D1A0EB9}"/>
              </a:ext>
            </a:extLst>
          </p:cNvPr>
          <p:cNvSpPr txBox="1"/>
          <p:nvPr/>
        </p:nvSpPr>
        <p:spPr>
          <a:xfrm>
            <a:off x="-2364" y="360348"/>
            <a:ext cx="4622450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2;p14" title="overlay redrob.png">
            <a:extLst>
              <a:ext uri="{FF2B5EF4-FFF2-40B4-BE49-F238E27FC236}">
                <a16:creationId xmlns:a16="http://schemas.microsoft.com/office/drawing/2014/main" id="{F55293BF-BCD9-6D59-E60C-5996A597C7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" y="1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2"/>
          <p:cNvSpPr/>
          <p:nvPr/>
        </p:nvSpPr>
        <p:spPr>
          <a:xfrm>
            <a:off x="592786" y="750440"/>
            <a:ext cx="7680960" cy="361976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15299" y="1001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228206"/>
              </p:ext>
            </p:extLst>
          </p:nvPr>
        </p:nvGraphicFramePr>
        <p:xfrm>
          <a:off x="1215521" y="1382634"/>
          <a:ext cx="6906873" cy="2375864"/>
        </p:xfrm>
        <a:graphic>
          <a:graphicData uri="http://schemas.openxmlformats.org/drawingml/2006/table">
            <a:tbl>
              <a:tblPr/>
              <a:tblGrid>
                <a:gridCol w="2244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UI/Frontend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Pandas, NumPy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Lexical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rank-bm25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/ sentence-transformers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Community Cloud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747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145865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145865" y="13716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56745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39625" y="41148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24;p23" title="thank you slide.png">
            <a:extLst>
              <a:ext uri="{FF2B5EF4-FFF2-40B4-BE49-F238E27FC236}">
                <a16:creationId xmlns:a16="http://schemas.microsoft.com/office/drawing/2014/main" id="{D95D14E5-FACF-AB2C-35AF-8BEFCD0237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1151</Words>
  <Application>Microsoft Office PowerPoint</Application>
  <PresentationFormat>On-screen Show (16:9)</PresentationFormat>
  <Paragraphs>243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Anthropic Sans</vt:lpstr>
      <vt:lpstr>Arial</vt:lpstr>
      <vt:lpstr>Consolas</vt:lpstr>
      <vt:lpstr>Manrope ExtraBold</vt:lpstr>
      <vt:lpstr>Manrope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Ranking for Senior AI Engineer Role</dc:title>
  <dc:subject>PptxGenJS Presentation</dc:subject>
  <dc:creator>Team TEAMP2R</dc:creator>
  <cp:lastModifiedBy>Prithalsing More</cp:lastModifiedBy>
  <cp:revision>4</cp:revision>
  <dcterms:created xsi:type="dcterms:W3CDTF">2026-06-27T15:59:54Z</dcterms:created>
  <dcterms:modified xsi:type="dcterms:W3CDTF">2026-06-27T17:13:40Z</dcterms:modified>
</cp:coreProperties>
</file>